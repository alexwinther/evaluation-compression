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60" r:id="rId4"/>
    <p:sldId id="258" r:id="rId5"/>
    <p:sldId id="276" r:id="rId6"/>
    <p:sldId id="277" r:id="rId7"/>
    <p:sldId id="278" r:id="rId8"/>
    <p:sldId id="279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5143500" type="screen16x9"/>
  <p:notesSz cx="6858000" cy="9144000"/>
  <p:embeddedFontLs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Raleway" pitchFamily="2" charset="77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99"/>
  </p:normalViewPr>
  <p:slideViewPr>
    <p:cSldViewPr snapToGrid="0">
      <p:cViewPr varScale="1">
        <p:scale>
          <a:sx n="147" d="100"/>
          <a:sy n="147" d="100"/>
        </p:scale>
        <p:origin x="33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1e732b728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1e732b728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1e732b728_0_10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1e732b728_0_10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3270212da5359de2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3270212da5359de2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95F9BB0A-43D1-1FF4-7B14-1D36E6E7B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3270212da5359de2_1_27:notes">
            <a:extLst>
              <a:ext uri="{FF2B5EF4-FFF2-40B4-BE49-F238E27FC236}">
                <a16:creationId xmlns:a16="http://schemas.microsoft.com/office/drawing/2014/main" id="{FB339CD7-7CEE-FBC8-4409-6DBCCA471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3270212da5359de2_1_27:notes">
            <a:extLst>
              <a:ext uri="{FF2B5EF4-FFF2-40B4-BE49-F238E27FC236}">
                <a16:creationId xmlns:a16="http://schemas.microsoft.com/office/drawing/2014/main" id="{EEF837A9-CF9C-FA0F-9759-A324D649CA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7910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465D7414-D7C4-D35B-7D4B-62F663BDD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3270212da5359de2_1_27:notes">
            <a:extLst>
              <a:ext uri="{FF2B5EF4-FFF2-40B4-BE49-F238E27FC236}">
                <a16:creationId xmlns:a16="http://schemas.microsoft.com/office/drawing/2014/main" id="{D5C57259-0AB4-6FA3-53F7-6B0A15655D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3270212da5359de2_1_27:notes">
            <a:extLst>
              <a:ext uri="{FF2B5EF4-FFF2-40B4-BE49-F238E27FC236}">
                <a16:creationId xmlns:a16="http://schemas.microsoft.com/office/drawing/2014/main" id="{4B093E9D-E10B-C6D7-F4DB-FBC368A39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3931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>
          <a:extLst>
            <a:ext uri="{FF2B5EF4-FFF2-40B4-BE49-F238E27FC236}">
              <a16:creationId xmlns:a16="http://schemas.microsoft.com/office/drawing/2014/main" id="{68C75E18-8CAB-5BBF-8447-8C3793824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3270212da5359de2_1_27:notes">
            <a:extLst>
              <a:ext uri="{FF2B5EF4-FFF2-40B4-BE49-F238E27FC236}">
                <a16:creationId xmlns:a16="http://schemas.microsoft.com/office/drawing/2014/main" id="{257AE438-6E96-E14A-55BD-7923A7F2B5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3270212da5359de2_1_27:notes">
            <a:extLst>
              <a:ext uri="{FF2B5EF4-FFF2-40B4-BE49-F238E27FC236}">
                <a16:creationId xmlns:a16="http://schemas.microsoft.com/office/drawing/2014/main" id="{D85B450C-8038-A61B-53DC-7EEB296BB2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5077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5814B998-0ADA-4BC3-0AB7-4525C4924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1e732b728_0_1001:notes">
            <a:extLst>
              <a:ext uri="{FF2B5EF4-FFF2-40B4-BE49-F238E27FC236}">
                <a16:creationId xmlns:a16="http://schemas.microsoft.com/office/drawing/2014/main" id="{DA1A3C80-810A-720C-C2BD-CCA3250E82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1e732b728_0_1001:notes">
            <a:extLst>
              <a:ext uri="{FF2B5EF4-FFF2-40B4-BE49-F238E27FC236}">
                <a16:creationId xmlns:a16="http://schemas.microsoft.com/office/drawing/2014/main" id="{1D986753-B56F-E7D3-7130-49F37C3A0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537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1e732b728_0_10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1e732b728_0_10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1e732b728_0_1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1e732b728_0_1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614730aec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614730aec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614730ae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614730aec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614730ae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614730ae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614730ae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614730aec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1e732b728_0_1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1e732b728_0_1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614730aec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614730aec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614730aec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614730aec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1e732b728_0_1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1e732b728_0_1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1e732b728_0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c1e732b728_0_1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1e732b728_0_1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1e732b728_0_1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614730aec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614730aec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614730aec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c614730aec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614730aec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c614730aec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729450" y="3674975"/>
            <a:ext cx="3844200" cy="9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Presentor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Alexander Winther Nielsen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999999"/>
                </a:solidFill>
              </a:rPr>
              <a:t>alwn@itu.dk</a:t>
            </a:r>
            <a:endParaRPr sz="1400">
              <a:solidFill>
                <a:srgbClr val="999999"/>
              </a:solidFill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/>
              <a:t>Active Testing/Evaluation in Medical Imaging</a:t>
            </a:r>
            <a:endParaRPr sz="3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02870-3AD7-C64E-994A-F930A58B9D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27650" y="6606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dirty="0"/>
              <a:t>Active Testing promise Reduction in </a:t>
            </a:r>
            <a:r>
              <a:rPr lang="en-GB" sz="2300" dirty="0" err="1"/>
              <a:t>Labeling</a:t>
            </a:r>
            <a:r>
              <a:rPr lang="en-GB" sz="2300" dirty="0"/>
              <a:t> Costs While Retaining Population Risk Estimates</a:t>
            </a:r>
            <a:endParaRPr sz="2300" dirty="0"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7563" y="1444625"/>
            <a:ext cx="2968975" cy="296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1081" y="1754027"/>
            <a:ext cx="2441750" cy="24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284544" y="4167275"/>
            <a:ext cx="23148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550" tIns="117550" rIns="117550" bIns="117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15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Expensive</a:t>
            </a:r>
            <a:endParaRPr sz="2315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544656" y="4167275"/>
            <a:ext cx="23148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550" tIns="117550" rIns="117550" bIns="117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15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Slow</a:t>
            </a:r>
            <a:endParaRPr sz="2315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8B82BC-C7B8-BCAB-28AD-1EE059CCD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936" y="278780"/>
            <a:ext cx="1877488" cy="458593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871EF55-7A9B-E160-C8FE-1536981A3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00" y="1318650"/>
            <a:ext cx="3585522" cy="1253100"/>
          </a:xfrm>
        </p:spPr>
        <p:txBody>
          <a:bodyPr/>
          <a:lstStyle/>
          <a:p>
            <a:r>
              <a:rPr lang="en-GB" sz="2800" dirty="0"/>
              <a:t>General Workflow for Active Testing</a:t>
            </a:r>
            <a:endParaRPr lang="en-D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5E03A7-B389-3566-5F86-6BDBFA359797}"/>
              </a:ext>
            </a:extLst>
          </p:cNvPr>
          <p:cNvSpPr txBox="1"/>
          <p:nvPr/>
        </p:nvSpPr>
        <p:spPr>
          <a:xfrm>
            <a:off x="730000" y="2821259"/>
            <a:ext cx="3184078" cy="174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DK" dirty="0"/>
              <a:t>Uniform Random Sampling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DK" dirty="0"/>
              <a:t>LURE (Kossen et al., 2021)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DK" dirty="0"/>
              <a:t>ASE (Kossen et al., 2022)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DK" dirty="0"/>
              <a:t>PPAT (Ashouritaklimi et al., 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727650" y="6606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Experimental setup</a:t>
            </a:r>
            <a:endParaRPr sz="2300"/>
          </a:p>
        </p:txBody>
      </p:sp>
      <p:sp>
        <p:nvSpPr>
          <p:cNvPr id="104" name="Google Shape;104;p1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1AFF0C-8660-DBFA-FEE6-5A4D8E59F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65" y="2090797"/>
            <a:ext cx="8795070" cy="12741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4A3E5A25-31DF-9F8D-560C-828D842BB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F915EC05-EDD8-ECE9-4B99-4F74F00B8B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650" y="6606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Experimental setup</a:t>
            </a:r>
            <a:endParaRPr sz="230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73D1DB97-C158-505E-D9C6-95367F9147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9620A6-CC9C-17CB-0207-87E0D6951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565" y="1504849"/>
            <a:ext cx="21706787" cy="314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647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8F1878E5-13E2-03AF-49A4-531440145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04F1D9F6-2C38-280F-0F19-4DCAE7D960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650" y="6606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Experimental setup</a:t>
            </a:r>
            <a:endParaRPr sz="230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66E5C749-458B-C487-4F60-395B7F0DC5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07846F-2C82-C768-76B6-3CAE4807D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04289" y="1504849"/>
            <a:ext cx="21706787" cy="314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651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D5CDCB56-6D6A-96B1-8F2D-ABCE7F779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81C53534-C004-B80D-4B4B-611D3979DD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7650" y="6606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Experimental setup</a:t>
            </a:r>
            <a:endParaRPr sz="230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7127A8ED-1458-210F-15EB-C25054273A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258B6F-0671-83CB-945F-D5E4DE314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743942" y="1504849"/>
            <a:ext cx="21706787" cy="314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04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B1F53DF-14FF-CE2C-601C-296EC564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>
            <a:extLst>
              <a:ext uri="{FF2B5EF4-FFF2-40B4-BE49-F238E27FC236}">
                <a16:creationId xmlns:a16="http://schemas.microsoft.com/office/drawing/2014/main" id="{56420EF8-A1D6-C188-DE92-D318ABA00F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725" y="265871"/>
            <a:ext cx="3300900" cy="9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140"/>
              <a:t>Test Suite Optimization</a:t>
            </a:r>
            <a:endParaRPr sz="2140"/>
          </a:p>
        </p:txBody>
      </p:sp>
      <p:pic>
        <p:nvPicPr>
          <p:cNvPr id="118" name="Google Shape;118;p17">
            <a:extLst>
              <a:ext uri="{FF2B5EF4-FFF2-40B4-BE49-F238E27FC236}">
                <a16:creationId xmlns:a16="http://schemas.microsoft.com/office/drawing/2014/main" id="{C3BFCBC1-F626-09EA-DF73-CE846B1623B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560" y="1992581"/>
            <a:ext cx="1265637" cy="1265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>
            <a:extLst>
              <a:ext uri="{FF2B5EF4-FFF2-40B4-BE49-F238E27FC236}">
                <a16:creationId xmlns:a16="http://schemas.microsoft.com/office/drawing/2014/main" id="{98F1B22E-D6DA-DDF1-2DAA-A540A5F8987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6460" y="3689924"/>
            <a:ext cx="1145850" cy="114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>
            <a:extLst>
              <a:ext uri="{FF2B5EF4-FFF2-40B4-BE49-F238E27FC236}">
                <a16:creationId xmlns:a16="http://schemas.microsoft.com/office/drawing/2014/main" id="{FFF2EB09-1990-26BC-906D-8706036AB25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6447" y="415025"/>
            <a:ext cx="1145850" cy="114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>
            <a:extLst>
              <a:ext uri="{FF2B5EF4-FFF2-40B4-BE49-F238E27FC236}">
                <a16:creationId xmlns:a16="http://schemas.microsoft.com/office/drawing/2014/main" id="{11C9B303-A69A-6749-6E7C-C31F99D8E94D}"/>
              </a:ext>
            </a:extLst>
          </p:cNvPr>
          <p:cNvSpPr txBox="1"/>
          <p:nvPr/>
        </p:nvSpPr>
        <p:spPr>
          <a:xfrm>
            <a:off x="6640681" y="815306"/>
            <a:ext cx="16695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Prioritization</a:t>
            </a:r>
            <a:endParaRPr sz="1800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17">
            <a:extLst>
              <a:ext uri="{FF2B5EF4-FFF2-40B4-BE49-F238E27FC236}">
                <a16:creationId xmlns:a16="http://schemas.microsoft.com/office/drawing/2014/main" id="{E45C7732-99FC-C691-A97D-8E9A7D1177A4}"/>
              </a:ext>
            </a:extLst>
          </p:cNvPr>
          <p:cNvSpPr txBox="1"/>
          <p:nvPr/>
        </p:nvSpPr>
        <p:spPr>
          <a:xfrm>
            <a:off x="6640681" y="2452756"/>
            <a:ext cx="16695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Reduction</a:t>
            </a:r>
            <a:endParaRPr sz="1800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17">
            <a:extLst>
              <a:ext uri="{FF2B5EF4-FFF2-40B4-BE49-F238E27FC236}">
                <a16:creationId xmlns:a16="http://schemas.microsoft.com/office/drawing/2014/main" id="{00B7CEE9-6C05-99F4-0F3A-B5C7633E69F4}"/>
              </a:ext>
            </a:extLst>
          </p:cNvPr>
          <p:cNvSpPr txBox="1"/>
          <p:nvPr/>
        </p:nvSpPr>
        <p:spPr>
          <a:xfrm>
            <a:off x="6640681" y="4090206"/>
            <a:ext cx="16695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Selection</a:t>
            </a:r>
            <a:endParaRPr sz="1800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17">
            <a:extLst>
              <a:ext uri="{FF2B5EF4-FFF2-40B4-BE49-F238E27FC236}">
                <a16:creationId xmlns:a16="http://schemas.microsoft.com/office/drawing/2014/main" id="{B388BF87-CCB3-886D-03DC-049FCF9AC8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725" y="2452746"/>
            <a:ext cx="3300900" cy="9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40" b="0"/>
              <a:t>How can the testing process be optimized?</a:t>
            </a:r>
            <a:endParaRPr sz="1840" b="0"/>
          </a:p>
        </p:txBody>
      </p:sp>
      <p:sp>
        <p:nvSpPr>
          <p:cNvPr id="125" name="Google Shape;125;p17">
            <a:extLst>
              <a:ext uri="{FF2B5EF4-FFF2-40B4-BE49-F238E27FC236}">
                <a16:creationId xmlns:a16="http://schemas.microsoft.com/office/drawing/2014/main" id="{DE6D0118-2266-5510-00B5-482C6A378AD8}"/>
              </a:ext>
            </a:extLst>
          </p:cNvPr>
          <p:cNvSpPr/>
          <p:nvPr/>
        </p:nvSpPr>
        <p:spPr>
          <a:xfrm>
            <a:off x="4902475" y="1902900"/>
            <a:ext cx="3640800" cy="1510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7">
            <a:extLst>
              <a:ext uri="{FF2B5EF4-FFF2-40B4-BE49-F238E27FC236}">
                <a16:creationId xmlns:a16="http://schemas.microsoft.com/office/drawing/2014/main" id="{030FE106-0274-772C-4622-57904318A3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209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2055983" y="1427208"/>
            <a:ext cx="5057100" cy="353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8"/>
          <p:cNvSpPr txBox="1">
            <a:spLocks noGrp="1"/>
          </p:cNvSpPr>
          <p:nvPr>
            <p:ph type="title"/>
          </p:nvPr>
        </p:nvSpPr>
        <p:spPr>
          <a:xfrm>
            <a:off x="727650" y="6606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Similarity-based reduction preserves faults by keeping diverse tests</a:t>
            </a:r>
            <a:endParaRPr sz="2300"/>
          </a:p>
        </p:txBody>
      </p:sp>
      <p:pic>
        <p:nvPicPr>
          <p:cNvPr id="133" name="Google Shape;133;p18" title="cluster-scat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5188" y="1496625"/>
            <a:ext cx="4753625" cy="3395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 title="cluster-scatter-similarity-fail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5188" y="1496625"/>
            <a:ext cx="4753625" cy="339544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447000" y="1343400"/>
            <a:ext cx="8226300" cy="3705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727650" y="6606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Traditional similarity relies on weak textual representations</a:t>
            </a:r>
            <a:endParaRPr sz="2000"/>
          </a:p>
        </p:txBody>
      </p:sp>
      <p:sp>
        <p:nvSpPr>
          <p:cNvPr id="142" name="Google Shape;142;p19"/>
          <p:cNvSpPr txBox="1"/>
          <p:nvPr/>
        </p:nvSpPr>
        <p:spPr>
          <a:xfrm>
            <a:off x="616200" y="2059576"/>
            <a:ext cx="3866400" cy="29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def sum(a: int, b: int) -&gt; int: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return a + b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[2, 2, 1, 0, 0, 3, 0, 1, 0, 1]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def sum(first: float, second: float) -&gt; float: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return first + second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[0, 0, 1, 2, 3, 0, 0, 1, 2, 1]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def multiply(first: float, second: float) -&gt; float: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return first * second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[0, 0, 1, 2, 3, 0, 1, 1, 2, 0]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1986750" y="1343411"/>
            <a:ext cx="5170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Vocabulary: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['a', 'b', 'def', 'first', 'float', 'int', 'multiply', 'return', 'second', 'sum']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4" name="Google Shape;144;p19" title="cosine.png"/>
          <p:cNvPicPr preferRelativeResize="0"/>
          <p:nvPr/>
        </p:nvPicPr>
        <p:blipFill rotWithShape="1">
          <a:blip r:embed="rId3">
            <a:alphaModFix/>
          </a:blip>
          <a:srcRect t="1419" b="1409"/>
          <a:stretch/>
        </p:blipFill>
        <p:spPr>
          <a:xfrm>
            <a:off x="4812543" y="1997567"/>
            <a:ext cx="3691548" cy="298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/>
          <p:nvPr/>
        </p:nvSpPr>
        <p:spPr>
          <a:xfrm>
            <a:off x="447000" y="1343400"/>
            <a:ext cx="8226300" cy="3705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20"/>
          <p:cNvSpPr txBox="1">
            <a:spLocks noGrp="1"/>
          </p:cNvSpPr>
          <p:nvPr>
            <p:ph type="title"/>
          </p:nvPr>
        </p:nvSpPr>
        <p:spPr>
          <a:xfrm>
            <a:off x="727650" y="6606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Hypothesis: Using CodeT5+ embeddings encode test intent better</a:t>
            </a:r>
            <a:endParaRPr sz="2000"/>
          </a:p>
        </p:txBody>
      </p:sp>
      <p:sp>
        <p:nvSpPr>
          <p:cNvPr id="152" name="Google Shape;152;p20"/>
          <p:cNvSpPr txBox="1"/>
          <p:nvPr/>
        </p:nvSpPr>
        <p:spPr>
          <a:xfrm>
            <a:off x="616200" y="2059576"/>
            <a:ext cx="3866400" cy="29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def sum(a: int, b: int) -&gt; int: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return a + b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def sum(first: float, second: float) -&gt; float: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return first + second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def multiply(first: float, second: float) -&gt; float: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return first * second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3" name="Google Shape;153;p20" title="cosine.png"/>
          <p:cNvPicPr preferRelativeResize="0"/>
          <p:nvPr/>
        </p:nvPicPr>
        <p:blipFill rotWithShape="1">
          <a:blip r:embed="rId3">
            <a:alphaModFix/>
          </a:blip>
          <a:srcRect b="2828"/>
          <a:stretch/>
        </p:blipFill>
        <p:spPr>
          <a:xfrm>
            <a:off x="4812543" y="1997567"/>
            <a:ext cx="3691548" cy="298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pic>
        <p:nvPicPr>
          <p:cNvPr id="155" name="Google Shape;155;p20" title="cosine.png"/>
          <p:cNvPicPr preferRelativeResize="0"/>
          <p:nvPr/>
        </p:nvPicPr>
        <p:blipFill rotWithShape="1">
          <a:blip r:embed="rId4">
            <a:alphaModFix/>
          </a:blip>
          <a:srcRect t="1419" b="1409"/>
          <a:stretch/>
        </p:blipFill>
        <p:spPr>
          <a:xfrm>
            <a:off x="4812543" y="1997567"/>
            <a:ext cx="3691548" cy="298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0" title="cosine-emb.png"/>
          <p:cNvPicPr preferRelativeResize="0"/>
          <p:nvPr/>
        </p:nvPicPr>
        <p:blipFill rotWithShape="1">
          <a:blip r:embed="rId5">
            <a:alphaModFix/>
          </a:blip>
          <a:srcRect t="1419" b="1409"/>
          <a:stretch/>
        </p:blipFill>
        <p:spPr>
          <a:xfrm>
            <a:off x="4812543" y="1997567"/>
            <a:ext cx="3691548" cy="298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1986750" y="1343411"/>
            <a:ext cx="5170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Embedding shape: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Mean pooling across tokens to (1, 256) per input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727650" y="66067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We evaluate impact of embeddings on existing scalable reduction methods</a:t>
            </a:r>
            <a:endParaRPr sz="2300"/>
          </a:p>
        </p:txBody>
      </p:sp>
      <p:sp>
        <p:nvSpPr>
          <p:cNvPr id="163" name="Google Shape;163;p21"/>
          <p:cNvSpPr txBox="1"/>
          <p:nvPr/>
        </p:nvSpPr>
        <p:spPr>
          <a:xfrm>
            <a:off x="5268475" y="4090925"/>
            <a:ext cx="28926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550" tIns="117550" rIns="117550" bIns="1175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15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Scalability focused</a:t>
            </a:r>
            <a:endParaRPr sz="2315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64" name="Google Shape;164;p21"/>
          <p:cNvGrpSpPr/>
          <p:nvPr/>
        </p:nvGrpSpPr>
        <p:grpSpPr>
          <a:xfrm>
            <a:off x="966159" y="2271835"/>
            <a:ext cx="2926147" cy="1363846"/>
            <a:chOff x="1105692" y="2462585"/>
            <a:chExt cx="1659943" cy="773682"/>
          </a:xfrm>
        </p:grpSpPr>
        <p:pic>
          <p:nvPicPr>
            <p:cNvPr id="165" name="Google Shape;16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50069" y="2462585"/>
              <a:ext cx="773682" cy="773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84851" y="2609034"/>
              <a:ext cx="480785" cy="4807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5692" y="2609034"/>
              <a:ext cx="480785" cy="48078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8" name="Google Shape;16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5850" y="2004825"/>
            <a:ext cx="1897850" cy="189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1021025" y="4090925"/>
            <a:ext cx="2816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550" tIns="117550" rIns="117550" bIns="1175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15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test-artifact–based</a:t>
            </a:r>
            <a:endParaRPr sz="2315"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/>
          <p:nvPr/>
        </p:nvSpPr>
        <p:spPr>
          <a:xfrm>
            <a:off x="3176150" y="612075"/>
            <a:ext cx="5633400" cy="4431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22"/>
          <p:cNvSpPr txBox="1">
            <a:spLocks noGrp="1"/>
          </p:cNvSpPr>
          <p:nvPr>
            <p:ph type="title"/>
          </p:nvPr>
        </p:nvSpPr>
        <p:spPr>
          <a:xfrm>
            <a:off x="721225" y="510266"/>
            <a:ext cx="3300900" cy="68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FAST++</a:t>
            </a:r>
            <a:endParaRPr sz="2300"/>
          </a:p>
        </p:txBody>
      </p:sp>
      <p:sp>
        <p:nvSpPr>
          <p:cNvPr id="177" name="Google Shape;177;p22"/>
          <p:cNvSpPr txBox="1">
            <a:spLocks noGrp="1"/>
          </p:cNvSpPr>
          <p:nvPr>
            <p:ph type="body" idx="1"/>
          </p:nvPr>
        </p:nvSpPr>
        <p:spPr>
          <a:xfrm>
            <a:off x="721225" y="2571750"/>
            <a:ext cx="2445300" cy="15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Selection via iterative distance-based sampling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  <p:pic>
        <p:nvPicPr>
          <p:cNvPr id="179" name="Google Shape;179;p22" title="pp-cluster-scatter-befo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2752" y="755648"/>
            <a:ext cx="5180200" cy="414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 title="pp-cluster-scatter-step-0-befo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2752" y="755656"/>
            <a:ext cx="5180200" cy="414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 title="pp-cluster-scatter-step-0-aft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2752" y="755656"/>
            <a:ext cx="5180200" cy="414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2" title="pp-cluster-scatter-step-1-befor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02742" y="755648"/>
            <a:ext cx="5180220" cy="414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2" title="pp-cluster-scatter-step-1-aft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02752" y="755656"/>
            <a:ext cx="5180200" cy="414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 title="pp-cluster-scatter-step-2-befo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02752" y="755656"/>
            <a:ext cx="5180200" cy="414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 title="pp-cluster-scatter-step-2-afte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02752" y="755656"/>
            <a:ext cx="5180200" cy="414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 title="pp-cluster-scatter-step-3-befor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02752" y="755656"/>
            <a:ext cx="5180200" cy="414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 title="pp-cluster-scatter-step-3-after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402752" y="755656"/>
            <a:ext cx="5180200" cy="414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/>
          <p:nvPr/>
        </p:nvSpPr>
        <p:spPr>
          <a:xfrm>
            <a:off x="3176150" y="612075"/>
            <a:ext cx="5633400" cy="4431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23"/>
          <p:cNvSpPr txBox="1">
            <a:spLocks noGrp="1"/>
          </p:cNvSpPr>
          <p:nvPr>
            <p:ph type="title"/>
          </p:nvPr>
        </p:nvSpPr>
        <p:spPr>
          <a:xfrm>
            <a:off x="721225" y="510266"/>
            <a:ext cx="3300900" cy="68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FAST-CS</a:t>
            </a:r>
            <a:endParaRPr sz="2300"/>
          </a:p>
        </p:txBody>
      </p:sp>
      <p:sp>
        <p:nvSpPr>
          <p:cNvPr id="194" name="Google Shape;194;p23"/>
          <p:cNvSpPr txBox="1">
            <a:spLocks noGrp="1"/>
          </p:cNvSpPr>
          <p:nvPr>
            <p:ph type="body" idx="1"/>
          </p:nvPr>
        </p:nvSpPr>
        <p:spPr>
          <a:xfrm>
            <a:off x="721225" y="2571750"/>
            <a:ext cx="2445300" cy="15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Selection via global distance-based sampling</a:t>
            </a:r>
            <a:endParaRPr sz="14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5" name="Google Shape;195;p2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  <p:pic>
        <p:nvPicPr>
          <p:cNvPr id="196" name="Google Shape;196;p23" title="pp-cluster-scatter-befo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2752" y="755648"/>
            <a:ext cx="5180200" cy="414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 title="cs-cluster-scatter-befor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2748" y="755650"/>
            <a:ext cx="5180200" cy="414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 title="cs-cluster-scatter-aft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2748" y="755650"/>
            <a:ext cx="5180200" cy="414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>
            <a:spLocks noGrp="1"/>
          </p:cNvSpPr>
          <p:nvPr>
            <p:ph type="title"/>
          </p:nvPr>
        </p:nvSpPr>
        <p:spPr>
          <a:xfrm>
            <a:off x="727800" y="66066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740"/>
              <a:t>Embeddings significantly reduce fault detection loss for C programs</a:t>
            </a:r>
            <a:endParaRPr sz="1740"/>
          </a:p>
        </p:txBody>
      </p:sp>
      <p:sp>
        <p:nvSpPr>
          <p:cNvPr id="204" name="Google Shape;204;p2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  <p:sp>
        <p:nvSpPr>
          <p:cNvPr id="205" name="Google Shape;205;p24"/>
          <p:cNvSpPr/>
          <p:nvPr/>
        </p:nvSpPr>
        <p:spPr>
          <a:xfrm>
            <a:off x="430288" y="1545737"/>
            <a:ext cx="8283300" cy="3206100"/>
          </a:xfrm>
          <a:prstGeom prst="rect">
            <a:avLst/>
          </a:prstGeom>
          <a:solidFill>
            <a:schemeClr val="lt1"/>
          </a:solidFill>
          <a:ln w="89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3557" dist="17852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85675" tIns="85675" rIns="85675" bIns="85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12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6" name="Google Shape;206;p24" title="bar_auc_c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4388" y="1545725"/>
            <a:ext cx="8015225" cy="32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>
            <a:spLocks noGrp="1"/>
          </p:cNvSpPr>
          <p:nvPr>
            <p:ph type="title"/>
          </p:nvPr>
        </p:nvSpPr>
        <p:spPr>
          <a:xfrm>
            <a:off x="727800" y="66066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40"/>
              <a:t>Embeddings do not outperform random reduction for Java programs</a:t>
            </a:r>
            <a:endParaRPr sz="174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740"/>
          </a:p>
        </p:txBody>
      </p:sp>
      <p:sp>
        <p:nvSpPr>
          <p:cNvPr id="212" name="Google Shape;212;p2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430288" y="1545737"/>
            <a:ext cx="8283300" cy="3206100"/>
          </a:xfrm>
          <a:prstGeom prst="rect">
            <a:avLst/>
          </a:prstGeom>
          <a:solidFill>
            <a:schemeClr val="lt1"/>
          </a:solidFill>
          <a:ln w="89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3557" dist="17852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85675" tIns="85675" rIns="85675" bIns="85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12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4" name="Google Shape;214;p25" title="bar_auc_Jav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4338" y="1545725"/>
            <a:ext cx="8015225" cy="32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>
            <a:spLocks noGrp="1"/>
          </p:cNvSpPr>
          <p:nvPr>
            <p:ph type="title"/>
          </p:nvPr>
        </p:nvSpPr>
        <p:spPr>
          <a:xfrm>
            <a:off x="727800" y="66066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40"/>
              <a:t>Regression Analysis Reveals Impact of Representation</a:t>
            </a:r>
            <a:endParaRPr sz="1740"/>
          </a:p>
        </p:txBody>
      </p:sp>
      <p:sp>
        <p:nvSpPr>
          <p:cNvPr id="220" name="Google Shape;220;p2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430300" y="1396750"/>
            <a:ext cx="8283300" cy="3451200"/>
          </a:xfrm>
          <a:prstGeom prst="rect">
            <a:avLst/>
          </a:prstGeom>
          <a:solidFill>
            <a:schemeClr val="lt1"/>
          </a:solidFill>
          <a:ln w="89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3557" dist="17852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85675" tIns="85675" rIns="85675" bIns="85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12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2" name="Google Shape;222;p26" title="regression_coef_p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2125" y="2096050"/>
            <a:ext cx="6879750" cy="275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 txBox="1"/>
          <p:nvPr/>
        </p:nvSpPr>
        <p:spPr>
          <a:xfrm>
            <a:off x="2640300" y="1445850"/>
            <a:ext cx="3863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Baseline: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FAST-CS TF @ 10% budget → 73.4% FDR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 txBox="1">
            <a:spLocks noGrp="1"/>
          </p:cNvSpPr>
          <p:nvPr>
            <p:ph type="title"/>
          </p:nvPr>
        </p:nvSpPr>
        <p:spPr>
          <a:xfrm>
            <a:off x="727800" y="66066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0"/>
              <a:t>Embedding benefits depend on algorithm properties</a:t>
            </a:r>
            <a:endParaRPr sz="2240"/>
          </a:p>
        </p:txBody>
      </p:sp>
      <p:grpSp>
        <p:nvGrpSpPr>
          <p:cNvPr id="229" name="Google Shape;229;p27"/>
          <p:cNvGrpSpPr/>
          <p:nvPr/>
        </p:nvGrpSpPr>
        <p:grpSpPr>
          <a:xfrm>
            <a:off x="825975" y="1652449"/>
            <a:ext cx="7492050" cy="2055401"/>
            <a:chOff x="825975" y="1909388"/>
            <a:chExt cx="7492050" cy="2055401"/>
          </a:xfrm>
        </p:grpSpPr>
        <p:pic>
          <p:nvPicPr>
            <p:cNvPr id="230" name="Google Shape;230;p27"/>
            <p:cNvPicPr preferRelativeResize="0"/>
            <p:nvPr/>
          </p:nvPicPr>
          <p:blipFill rotWithShape="1">
            <a:blip r:embed="rId3">
              <a:alphaModFix/>
            </a:blip>
            <a:srcRect t="30940" b="24720"/>
            <a:stretch/>
          </p:blipFill>
          <p:spPr>
            <a:xfrm>
              <a:off x="825975" y="1909388"/>
              <a:ext cx="7492050" cy="2055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7"/>
            <p:cNvPicPr preferRelativeResize="0"/>
            <p:nvPr/>
          </p:nvPicPr>
          <p:blipFill rotWithShape="1">
            <a:blip r:embed="rId4">
              <a:alphaModFix/>
            </a:blip>
            <a:srcRect l="44548" t="41774" r="44419" b="38610"/>
            <a:stretch/>
          </p:blipFill>
          <p:spPr>
            <a:xfrm>
              <a:off x="4188099" y="2421353"/>
              <a:ext cx="789576" cy="8685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2" name="Google Shape;232;p27"/>
          <p:cNvSpPr txBox="1"/>
          <p:nvPr/>
        </p:nvSpPr>
        <p:spPr>
          <a:xfrm>
            <a:off x="1762925" y="3350487"/>
            <a:ext cx="165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FAST-CS</a:t>
            </a:r>
            <a:endParaRPr b="1"/>
          </a:p>
        </p:txBody>
      </p:sp>
      <p:sp>
        <p:nvSpPr>
          <p:cNvPr id="233" name="Google Shape;233;p27"/>
          <p:cNvSpPr txBox="1"/>
          <p:nvPr/>
        </p:nvSpPr>
        <p:spPr>
          <a:xfrm>
            <a:off x="5712783" y="3350487"/>
            <a:ext cx="1654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FAST++</a:t>
            </a:r>
            <a:endParaRPr b="1"/>
          </a:p>
        </p:txBody>
      </p:sp>
      <p:sp>
        <p:nvSpPr>
          <p:cNvPr id="234" name="Google Shape;234;p27"/>
          <p:cNvSpPr txBox="1"/>
          <p:nvPr/>
        </p:nvSpPr>
        <p:spPr>
          <a:xfrm>
            <a:off x="1722275" y="3764039"/>
            <a:ext cx="1735800" cy="1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Global structure,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High abstraction from representation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5672125" y="3764039"/>
            <a:ext cx="1735800" cy="1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Local structure,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More reliant on representation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2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/>
          <p:nvPr/>
        </p:nvSpPr>
        <p:spPr>
          <a:xfrm>
            <a:off x="430288" y="1545737"/>
            <a:ext cx="8283300" cy="3206100"/>
          </a:xfrm>
          <a:prstGeom prst="rect">
            <a:avLst/>
          </a:prstGeom>
          <a:solidFill>
            <a:schemeClr val="lt1"/>
          </a:solidFill>
          <a:ln w="89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  <a:effectLst>
            <a:outerShdw blurRad="53557" dist="17852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85675" tIns="85675" rIns="85675" bIns="85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12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28"/>
          <p:cNvSpPr txBox="1">
            <a:spLocks noGrp="1"/>
          </p:cNvSpPr>
          <p:nvPr>
            <p:ph type="title"/>
          </p:nvPr>
        </p:nvSpPr>
        <p:spPr>
          <a:xfrm>
            <a:off x="727800" y="66066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40"/>
              <a:t>Runtime Comparisons</a:t>
            </a:r>
            <a:endParaRPr sz="2340"/>
          </a:p>
        </p:txBody>
      </p:sp>
      <p:pic>
        <p:nvPicPr>
          <p:cNvPr id="243" name="Google Shape;243;p28" title="time-distribu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288" y="1654406"/>
            <a:ext cx="8283420" cy="298903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>
            <a:spLocks noGrp="1"/>
          </p:cNvSpPr>
          <p:nvPr>
            <p:ph type="title"/>
          </p:nvPr>
        </p:nvSpPr>
        <p:spPr>
          <a:xfrm>
            <a:off x="727800" y="66066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40"/>
              <a:t>Embeddings are powerful but not a universal solution</a:t>
            </a:r>
            <a:endParaRPr sz="2040"/>
          </a:p>
        </p:txBody>
      </p:sp>
      <p:grpSp>
        <p:nvGrpSpPr>
          <p:cNvPr id="250" name="Google Shape;250;p29"/>
          <p:cNvGrpSpPr/>
          <p:nvPr/>
        </p:nvGrpSpPr>
        <p:grpSpPr>
          <a:xfrm>
            <a:off x="152966" y="2297549"/>
            <a:ext cx="8838072" cy="1566576"/>
            <a:chOff x="1142575" y="3576050"/>
            <a:chExt cx="6404400" cy="1135200"/>
          </a:xfrm>
        </p:grpSpPr>
        <p:sp>
          <p:nvSpPr>
            <p:cNvPr id="251" name="Google Shape;251;p29"/>
            <p:cNvSpPr/>
            <p:nvPr/>
          </p:nvSpPr>
          <p:spPr>
            <a:xfrm>
              <a:off x="1142575" y="3576050"/>
              <a:ext cx="6404400" cy="1135200"/>
            </a:xfrm>
            <a:prstGeom prst="rect">
              <a:avLst/>
            </a:prstGeom>
            <a:solidFill>
              <a:schemeClr val="lt1"/>
            </a:solidFill>
            <a:ln w="13150" cap="flat" cmpd="sng">
              <a:solidFill>
                <a:srgbClr val="F3F3F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8871" dist="2629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126175" tIns="126175" rIns="126175" bIns="126175" anchor="ctr" anchorCtr="0">
              <a:noAutofit/>
            </a:bodyPr>
            <a:lstStyle/>
            <a:p>
              <a:pPr marL="525804" marR="525804" lvl="0" indent="0" algn="l" rtl="0">
                <a:lnSpc>
                  <a:spcPct val="115000"/>
                </a:lnSpc>
                <a:spcBef>
                  <a:spcPts val="2070"/>
                </a:spcBef>
                <a:spcAft>
                  <a:spcPts val="2070"/>
                </a:spcAft>
                <a:buNone/>
              </a:pPr>
              <a:endParaRPr sz="1932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2" name="Google Shape;252;p29"/>
            <p:cNvSpPr txBox="1"/>
            <p:nvPr/>
          </p:nvSpPr>
          <p:spPr>
            <a:xfrm>
              <a:off x="1339975" y="3970850"/>
              <a:ext cx="6009600" cy="66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6175" tIns="126175" rIns="126175" bIns="126175" anchor="t" anchorCtr="0">
              <a:noAutofit/>
            </a:bodyPr>
            <a:lstStyle/>
            <a:p>
              <a:pPr marL="0" marR="525804" lvl="0" indent="0" algn="l" rtl="0">
                <a:lnSpc>
                  <a:spcPct val="115000"/>
                </a:lnSpc>
                <a:spcBef>
                  <a:spcPts val="2070"/>
                </a:spcBef>
                <a:spcAft>
                  <a:spcPts val="2070"/>
                </a:spcAft>
                <a:buNone/>
              </a:pPr>
              <a:r>
                <a:rPr lang="en-GB" sz="1518" b="1"/>
                <a:t>Embeddings</a:t>
              </a:r>
              <a:r>
                <a:rPr lang="en-GB" sz="1518"/>
                <a:t> can </a:t>
              </a:r>
              <a:r>
                <a:rPr lang="en-GB" sz="1518" b="1"/>
                <a:t>significantly improve</a:t>
              </a:r>
              <a:r>
                <a:rPr lang="en-GB" sz="1518"/>
                <a:t> </a:t>
              </a:r>
              <a:r>
                <a:rPr lang="en-GB" sz="1518" b="1"/>
                <a:t>test suite reduction</a:t>
              </a:r>
              <a:r>
                <a:rPr lang="en-GB" sz="1518"/>
                <a:t>, but only when combined with the an algorithm that can exploit the additional semantic structure</a:t>
              </a:r>
              <a:endParaRPr sz="1794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53" name="Google Shape;253;p29"/>
            <p:cNvSpPr txBox="1"/>
            <p:nvPr/>
          </p:nvSpPr>
          <p:spPr>
            <a:xfrm>
              <a:off x="1339975" y="3688850"/>
              <a:ext cx="2657100" cy="35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6175" tIns="126175" rIns="126175" bIns="1261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70" b="1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Main takeaway</a:t>
              </a:r>
              <a:endParaRPr sz="207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54" name="Google Shape;254;p2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>
            <a:spLocks noGrp="1"/>
          </p:cNvSpPr>
          <p:nvPr>
            <p:ph type="title"/>
          </p:nvPr>
        </p:nvSpPr>
        <p:spPr>
          <a:xfrm>
            <a:off x="727800" y="66066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40"/>
              <a:t>Test suites used for evaluation</a:t>
            </a:r>
            <a:endParaRPr sz="2040"/>
          </a:p>
        </p:txBody>
      </p:sp>
      <p:sp>
        <p:nvSpPr>
          <p:cNvPr id="260" name="Google Shape;260;p3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  <p:pic>
        <p:nvPicPr>
          <p:cNvPr id="261" name="Google Shape;261;p30" title="Screenshot 2026-02-09 at 12.27.5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000" y="1472685"/>
            <a:ext cx="8442009" cy="3249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>
            <a:spLocks noGrp="1"/>
          </p:cNvSpPr>
          <p:nvPr>
            <p:ph type="title"/>
          </p:nvPr>
        </p:nvSpPr>
        <p:spPr>
          <a:xfrm>
            <a:off x="727800" y="66066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40"/>
              <a:t>Continuous Results for C Test Suites</a:t>
            </a:r>
            <a:endParaRPr sz="2040"/>
          </a:p>
        </p:txBody>
      </p:sp>
      <p:sp>
        <p:nvSpPr>
          <p:cNvPr id="267" name="Google Shape;267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  <p:pic>
        <p:nvPicPr>
          <p:cNvPr id="268" name="Google Shape;268;p31" title="fdl_across_budget_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350" y="1488250"/>
            <a:ext cx="8185300" cy="3227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>
            <a:spLocks noGrp="1"/>
          </p:cNvSpPr>
          <p:nvPr>
            <p:ph type="title"/>
          </p:nvPr>
        </p:nvSpPr>
        <p:spPr>
          <a:xfrm>
            <a:off x="727800" y="66066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40"/>
              <a:t>Continuous Results for Java Test Suites</a:t>
            </a:r>
            <a:endParaRPr sz="2040"/>
          </a:p>
        </p:txBody>
      </p:sp>
      <p:sp>
        <p:nvSpPr>
          <p:cNvPr id="274" name="Google Shape;274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  <p:pic>
        <p:nvPicPr>
          <p:cNvPr id="275" name="Google Shape;275;p32" title="fdl_across_budget_jav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350" y="1488250"/>
            <a:ext cx="8185300" cy="3227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12134</TotalTime>
  <Words>485</Words>
  <Application>Microsoft Macintosh PowerPoint</Application>
  <PresentationFormat>On-screen Show (16:9)</PresentationFormat>
  <Paragraphs>101</Paragraphs>
  <Slides>23</Slides>
  <Notes>23</Notes>
  <HiddenSlides>16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Lato</vt:lpstr>
      <vt:lpstr>Raleway</vt:lpstr>
      <vt:lpstr>Streamline</vt:lpstr>
      <vt:lpstr>Active Testing/Evaluation in Medical Imaging</vt:lpstr>
      <vt:lpstr>Active Testing promise Reduction in Labeling Costs While Retaining Population Risk Estimates</vt:lpstr>
      <vt:lpstr>General Workflow for Active Testing</vt:lpstr>
      <vt:lpstr>Experimental setup</vt:lpstr>
      <vt:lpstr>Experimental setup</vt:lpstr>
      <vt:lpstr>Experimental setup</vt:lpstr>
      <vt:lpstr>Experimental setup</vt:lpstr>
      <vt:lpstr>Test Suite Optimization</vt:lpstr>
      <vt:lpstr>Similarity-based reduction preserves faults by keeping diverse tests</vt:lpstr>
      <vt:lpstr>Traditional similarity relies on weak textual representations</vt:lpstr>
      <vt:lpstr>Hypothesis: Using CodeT5+ embeddings encode test intent better</vt:lpstr>
      <vt:lpstr>We evaluate impact of embeddings on existing scalable reduction methods</vt:lpstr>
      <vt:lpstr>FAST++</vt:lpstr>
      <vt:lpstr>FAST-CS</vt:lpstr>
      <vt:lpstr>Embeddings significantly reduce fault detection loss for C programs</vt:lpstr>
      <vt:lpstr>Embeddings do not outperform random reduction for Java programs </vt:lpstr>
      <vt:lpstr>Regression Analysis Reveals Impact of Representation</vt:lpstr>
      <vt:lpstr>Embedding benefits depend on algorithm properties</vt:lpstr>
      <vt:lpstr>Runtime Comparisons</vt:lpstr>
      <vt:lpstr>Embeddings are powerful but not a universal solution</vt:lpstr>
      <vt:lpstr>Test suites used for evaluation</vt:lpstr>
      <vt:lpstr>Continuous Results for C Test Suites</vt:lpstr>
      <vt:lpstr>Continuous Results for Java Test Suites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Winther Nielsen</cp:lastModifiedBy>
  <cp:revision>3</cp:revision>
  <dcterms:modified xsi:type="dcterms:W3CDTF">2026-10-02T08:55:10Z</dcterms:modified>
</cp:coreProperties>
</file>